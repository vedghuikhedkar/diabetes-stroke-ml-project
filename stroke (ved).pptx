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7" r:id="rId3"/>
    <p:sldId id="258" r:id="rId4"/>
    <p:sldId id="259" r:id="rId5"/>
    <p:sldId id="279" r:id="rId6"/>
    <p:sldId id="278" r:id="rId7"/>
    <p:sldId id="271" r:id="rId8"/>
    <p:sldId id="272" r:id="rId9"/>
    <p:sldId id="274" r:id="rId10"/>
    <p:sldId id="275" r:id="rId11"/>
    <p:sldId id="276" r:id="rId12"/>
    <p:sldId id="277" r:id="rId13"/>
    <p:sldId id="260" r:id="rId14"/>
    <p:sldId id="261" r:id="rId15"/>
    <p:sldId id="270" r:id="rId16"/>
    <p:sldId id="281" r:id="rId17"/>
    <p:sldId id="280" r:id="rId18"/>
    <p:sldId id="265" r:id="rId19"/>
    <p:sldId id="266" r:id="rId20"/>
  </p:sldIdLst>
  <p:sldSz cx="9144000" cy="5143500" type="screen16x9"/>
  <p:notesSz cx="6858000" cy="9144000"/>
  <p:embeddedFontLst>
    <p:embeddedFont>
      <p:font typeface="Bahnschrift SemiLight" panose="020B0502040204020203" pitchFamily="34" charset="0"/>
      <p:regular r:id="rId22"/>
    </p:embeddedFont>
    <p:embeddedFont>
      <p:font typeface="Roboto" panose="020B0604020202020204" charset="0"/>
      <p:regular r:id="rId23"/>
      <p:bold r:id="rId24"/>
      <p:italic r:id="rId25"/>
      <p:boldItalic r:id="rId26"/>
    </p:embeddedFont>
    <p:embeddedFont>
      <p:font typeface="Tahoma" panose="020B0604030504040204" pitchFamily="34" charset="0"/>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7223bd2a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7223bd2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caee8303e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caee8303e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b7223bd2a0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b7223bd2a0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6880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509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7145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7815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8696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2753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4935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b7223bd2a0_0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b7223bd2a0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7474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caee8303e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caee8303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caee8303e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caee8303e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10270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2857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59953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6727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b7223bd2a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b7223bd2a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7155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330" name="Google Shape;330;p13"/>
          <p:cNvSpPr txBox="1"/>
          <p:nvPr/>
        </p:nvSpPr>
        <p:spPr>
          <a:xfrm>
            <a:off x="-10050" y="1358900"/>
            <a:ext cx="9164100" cy="166265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0" b="1" dirty="0">
                <a:solidFill>
                  <a:srgbClr val="FF6A0E"/>
                </a:solidFill>
              </a:rPr>
              <a:t>Project Name:</a:t>
            </a:r>
          </a:p>
          <a:p>
            <a:pPr marL="0" lvl="0" indent="0" algn="ctr" rtl="0">
              <a:spcBef>
                <a:spcPts val="0"/>
              </a:spcBef>
              <a:spcAft>
                <a:spcPts val="0"/>
              </a:spcAft>
              <a:buNone/>
            </a:pPr>
            <a:r>
              <a:rPr lang="en-US" sz="4000" b="1" dirty="0">
                <a:solidFill>
                  <a:srgbClr val="FF6A0E"/>
                </a:solidFill>
              </a:rPr>
              <a:t>Early Stage Diabetes</a:t>
            </a:r>
          </a:p>
          <a:p>
            <a:pPr marL="0" lvl="0" indent="0" algn="ctr" rtl="0">
              <a:spcBef>
                <a:spcPts val="0"/>
              </a:spcBef>
              <a:spcAft>
                <a:spcPts val="0"/>
              </a:spcAft>
              <a:buNone/>
            </a:pPr>
            <a:r>
              <a:rPr lang="en-US" sz="4000" b="1" dirty="0">
                <a:solidFill>
                  <a:srgbClr val="FF6A0E"/>
                </a:solidFill>
              </a:rPr>
              <a:t>Risk Prediction</a:t>
            </a:r>
            <a:endParaRPr lang="en-GB" sz="4000" b="1" dirty="0">
              <a:solidFill>
                <a:srgbClr val="FF6A0E"/>
              </a:solidFill>
            </a:endParaRPr>
          </a:p>
          <a:p>
            <a:pPr marL="0" lvl="0" indent="0" algn="ctr" rtl="0">
              <a:spcBef>
                <a:spcPts val="0"/>
              </a:spcBef>
              <a:spcAft>
                <a:spcPts val="0"/>
              </a:spcAft>
              <a:buNone/>
            </a:pPr>
            <a:endParaRPr sz="4000" b="1" dirty="0">
              <a:solidFill>
                <a:srgbClr val="FF6A0E"/>
              </a:solidFill>
            </a:endParaRPr>
          </a:p>
        </p:txBody>
      </p:sp>
      <p:sp>
        <p:nvSpPr>
          <p:cNvPr id="334" name="Google Shape;334;p13"/>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lnSpc>
                <a:spcPct val="100000"/>
              </a:lnSpc>
              <a:spcBef>
                <a:spcPts val="0"/>
              </a:spcBef>
              <a:spcAft>
                <a:spcPts val="0"/>
              </a:spcAft>
              <a:buClr>
                <a:srgbClr val="000000"/>
              </a:buClr>
              <a:buSzPts val="1200"/>
              <a:buFont typeface="Arial"/>
              <a:buNone/>
            </a:pPr>
            <a:r>
              <a:rPr lang="en-GB" sz="1200" b="0" i="0" u="none" strike="noStrike" cap="none">
                <a:solidFill>
                  <a:srgbClr val="FFFFFF"/>
                </a:solidFill>
                <a:latin typeface="Roboto"/>
                <a:ea typeface="Roboto"/>
                <a:cs typeface="Roboto"/>
                <a:sym typeface="Roboto"/>
              </a:rPr>
              <a:t>© All rights reserved by Fireblaze Technologies Pvt. Ltd.</a:t>
            </a:r>
            <a:endParaRPr sz="1200" b="0" i="0" u="none" strike="noStrike" cap="none">
              <a:solidFill>
                <a:srgbClr val="FFFFFF"/>
              </a:solidFill>
              <a:latin typeface="Roboto"/>
              <a:ea typeface="Roboto"/>
              <a:cs typeface="Roboto"/>
              <a:sym typeface="Roboto"/>
            </a:endParaRPr>
          </a:p>
        </p:txBody>
      </p:sp>
      <p:sp>
        <p:nvSpPr>
          <p:cNvPr id="335" name="Google Shape;335;p13"/>
          <p:cNvSpPr/>
          <p:nvPr/>
        </p:nvSpPr>
        <p:spPr>
          <a:xfrm>
            <a:off x="-1005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4D63B57-2B6C-4AEF-AA4E-F393A4E8B2DF}"/>
              </a:ext>
            </a:extLst>
          </p:cNvPr>
          <p:cNvSpPr txBox="1"/>
          <p:nvPr/>
        </p:nvSpPr>
        <p:spPr>
          <a:xfrm>
            <a:off x="6751672" y="3869001"/>
            <a:ext cx="2379276" cy="646331"/>
          </a:xfrm>
          <a:prstGeom prst="rect">
            <a:avLst/>
          </a:prstGeom>
          <a:noFill/>
        </p:spPr>
        <p:txBody>
          <a:bodyPr wrap="square" rtlCol="0">
            <a:spAutoFit/>
          </a:bodyPr>
          <a:lstStyle/>
          <a:p>
            <a:r>
              <a:rPr lang="en-US" sz="1800" b="1" dirty="0" err="1">
                <a:solidFill>
                  <a:srgbClr val="FF6A0E"/>
                </a:solidFill>
              </a:rPr>
              <a:t>Ved</a:t>
            </a:r>
            <a:r>
              <a:rPr lang="en-US" sz="1800" b="1" dirty="0">
                <a:solidFill>
                  <a:srgbClr val="FF6A0E"/>
                </a:solidFill>
              </a:rPr>
              <a:t> </a:t>
            </a:r>
            <a:r>
              <a:rPr lang="en-US" sz="1800" b="1" dirty="0" err="1">
                <a:solidFill>
                  <a:srgbClr val="FF6A0E"/>
                </a:solidFill>
              </a:rPr>
              <a:t>Ghuikhedkar</a:t>
            </a:r>
            <a:endParaRPr lang="en-US" sz="1800" b="1">
              <a:solidFill>
                <a:srgbClr val="FF6A0E"/>
              </a:solidFill>
            </a:endParaRPr>
          </a:p>
          <a:p>
            <a:endParaRPr lang="en-US" sz="1800" b="1" dirty="0">
              <a:solidFill>
                <a:srgbClr val="FF6A0E"/>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55446" y="129243"/>
            <a:ext cx="636607" cy="550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1" name="Google Shape;341;p14"/>
          <p:cNvSpPr txBox="1">
            <a:spLocks noGrp="1"/>
          </p:cNvSpPr>
          <p:nvPr>
            <p:ph type="ctrTitle"/>
          </p:nvPr>
        </p:nvSpPr>
        <p:spPr>
          <a:xfrm>
            <a:off x="-27028" y="0"/>
            <a:ext cx="9164100" cy="69828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Problem Statement</a:t>
            </a:r>
            <a:endParaRPr sz="3000" b="1" dirty="0">
              <a:solidFill>
                <a:srgbClr val="FFFFFF"/>
              </a:solidFill>
              <a:latin typeface="Roboto"/>
              <a:ea typeface="Roboto"/>
              <a:cs typeface="Roboto"/>
              <a:sym typeface="Roboto"/>
            </a:endParaRPr>
          </a:p>
        </p:txBody>
      </p:sp>
      <p:sp>
        <p:nvSpPr>
          <p:cNvPr id="342" name="Google Shape;342;p14"/>
          <p:cNvSpPr txBox="1"/>
          <p:nvPr/>
        </p:nvSpPr>
        <p:spPr>
          <a:xfrm>
            <a:off x="-22243" y="750240"/>
            <a:ext cx="9144000" cy="3998400"/>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Clr>
                <a:srgbClr val="000000"/>
              </a:buClr>
              <a:buSzPts val="2000"/>
            </a:pPr>
            <a:endParaRPr sz="2000" dirty="0">
              <a:solidFill>
                <a:schemeClr val="dk1"/>
              </a:solidFill>
              <a:latin typeface="Roboto"/>
              <a:ea typeface="Roboto"/>
              <a:cs typeface="Roboto"/>
              <a:sym typeface="Roboto"/>
            </a:endParaRPr>
          </a:p>
        </p:txBody>
      </p:sp>
      <p:sp>
        <p:nvSpPr>
          <p:cNvPr id="343" name="Google Shape;343;p14"/>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44" name="Google Shape;344;p14"/>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413D722D-8764-B8C6-5B9E-991656AB062A}"/>
              </a:ext>
            </a:extLst>
          </p:cNvPr>
          <p:cNvSpPr txBox="1"/>
          <p:nvPr/>
        </p:nvSpPr>
        <p:spPr>
          <a:xfrm>
            <a:off x="0" y="698280"/>
            <a:ext cx="9137072" cy="953081"/>
          </a:xfrm>
          <a:prstGeom prst="rect">
            <a:avLst/>
          </a:prstGeom>
          <a:noFill/>
        </p:spPr>
        <p:txBody>
          <a:bodyPr wrap="square">
            <a:spAutoFit/>
          </a:bodyPr>
          <a:lstStyle/>
          <a:p>
            <a:pPr marL="101600" lvl="0" algn="just">
              <a:lnSpc>
                <a:spcPct val="150000"/>
              </a:lnSpc>
              <a:buSzPts val="2000"/>
            </a:pPr>
            <a:r>
              <a:rPr lang="en-US" sz="2000" dirty="0">
                <a:latin typeface="Bahnschrift SemiLight" panose="020B0502040204020203" pitchFamily="34" charset="0"/>
                <a:ea typeface="Tahoma" panose="020B0604030504040204" pitchFamily="34" charset="0"/>
                <a:cs typeface="Tahoma" panose="020B0604030504040204" pitchFamily="34" charset="0"/>
              </a:rPr>
              <a:t>To train a model  to </a:t>
            </a:r>
            <a:r>
              <a:rPr lang="en-US" sz="2000" b="1" dirty="0">
                <a:latin typeface="Bahnschrift SemiLight" panose="020B0502040204020203" pitchFamily="34" charset="0"/>
                <a:ea typeface="Tahoma" panose="020B0604030504040204" pitchFamily="34" charset="0"/>
                <a:cs typeface="Tahoma" panose="020B0604030504040204" pitchFamily="34" charset="0"/>
              </a:rPr>
              <a:t>predict</a:t>
            </a:r>
            <a:r>
              <a:rPr lang="en-US" sz="2000" dirty="0">
                <a:latin typeface="Bahnschrift SemiLight" panose="020B0502040204020203" pitchFamily="34" charset="0"/>
                <a:ea typeface="Tahoma" panose="020B0604030504040204" pitchFamily="34" charset="0"/>
                <a:cs typeface="Tahoma" panose="020B0604030504040204" pitchFamily="34" charset="0"/>
              </a:rPr>
              <a:t> whether a patient is likely to get a </a:t>
            </a:r>
            <a:r>
              <a:rPr lang="en-US" sz="2000" b="1" dirty="0">
                <a:latin typeface="Bahnschrift SemiLight" panose="020B0502040204020203" pitchFamily="34" charset="0"/>
                <a:ea typeface="Tahoma" panose="020B0604030504040204" pitchFamily="34" charset="0"/>
                <a:cs typeface="Tahoma" panose="020B0604030504040204" pitchFamily="34" charset="0"/>
              </a:rPr>
              <a:t>Diabetes </a:t>
            </a:r>
            <a:r>
              <a:rPr lang="en-US" sz="2000" dirty="0">
                <a:latin typeface="Bahnschrift SemiLight" panose="020B0502040204020203" pitchFamily="34" charset="0"/>
                <a:ea typeface="Tahoma" panose="020B0604030504040204" pitchFamily="34" charset="0"/>
                <a:cs typeface="Tahoma" panose="020B0604030504040204" pitchFamily="34" charset="0"/>
              </a:rPr>
              <a:t>based on the input </a:t>
            </a:r>
            <a:r>
              <a:rPr lang="en-US" sz="2000" b="1" dirty="0">
                <a:latin typeface="Bahnschrift SemiLight" panose="020B0502040204020203" pitchFamily="34" charset="0"/>
                <a:ea typeface="Tahoma" panose="020B0604030504040204" pitchFamily="34" charset="0"/>
                <a:cs typeface="Tahoma" panose="020B0604030504040204" pitchFamily="34" charset="0"/>
              </a:rPr>
              <a:t>parameters</a:t>
            </a:r>
            <a:r>
              <a:rPr lang="en-US" sz="2000" dirty="0">
                <a:latin typeface="Bahnschrift SemiLight" panose="020B0502040204020203" pitchFamily="34" charset="0"/>
                <a:ea typeface="Tahoma" panose="020B0604030504040204" pitchFamily="34" charset="0"/>
                <a:cs typeface="Tahoma" panose="020B0604030504040204" pitchFamily="34" charset="0"/>
              </a:rPr>
              <a:t> like </a:t>
            </a:r>
            <a:r>
              <a:rPr lang="en-US" sz="2000" b="1" dirty="0">
                <a:latin typeface="Bahnschrift SemiLight" panose="020B0502040204020203" pitchFamily="34" charset="0"/>
                <a:ea typeface="Tahoma" panose="020B0604030504040204" pitchFamily="34" charset="0"/>
                <a:cs typeface="Tahoma" panose="020B0604030504040204" pitchFamily="34" charset="0"/>
              </a:rPr>
              <a:t>gender, age, obesity </a:t>
            </a:r>
            <a:r>
              <a:rPr lang="en-US" sz="2000" dirty="0">
                <a:latin typeface="Bahnschrift SemiLight" panose="020B0502040204020203" pitchFamily="34" charset="0"/>
                <a:ea typeface="Tahoma" panose="020B0604030504040204" pitchFamily="34" charset="0"/>
                <a:cs typeface="Tahoma" panose="020B0604030504040204" pitchFamily="34" charset="0"/>
              </a:rPr>
              <a:t>and various </a:t>
            </a:r>
            <a:r>
              <a:rPr lang="en-US" sz="2000" b="1" dirty="0">
                <a:latin typeface="Bahnschrift SemiLight" panose="020B0502040204020203" pitchFamily="34" charset="0"/>
                <a:ea typeface="Tahoma" panose="020B0604030504040204" pitchFamily="34" charset="0"/>
                <a:cs typeface="Tahoma" panose="020B0604030504040204" pitchFamily="34" charset="0"/>
              </a:rPr>
              <a:t>other diseases</a:t>
            </a:r>
            <a:r>
              <a:rPr lang="en-US" sz="2000" dirty="0">
                <a:latin typeface="Bahnschrift SemiLight" panose="020B0502040204020203" pitchFamily="34" charset="0"/>
                <a:ea typeface="Tahoma" panose="020B0604030504040204" pitchFamily="34" charset="0"/>
                <a:cs typeface="Tahoma" panose="020B0604030504040204" pitchFamily="34" charset="0"/>
              </a:rPr>
              <a:t>.</a:t>
            </a:r>
            <a:endParaRPr lang="en-US" sz="2000" dirty="0">
              <a:solidFill>
                <a:schemeClr val="dk1"/>
              </a:solidFill>
              <a:effectLst>
                <a:outerShdw blurRad="38100" dist="38100" dir="2700000" algn="tl">
                  <a:srgbClr val="000000">
                    <a:alpha val="43137"/>
                  </a:srgbClr>
                </a:outerShdw>
              </a:effectLst>
              <a:latin typeface="Bahnschrift SemiLight" panose="020B0502040204020203" pitchFamily="34" charset="0"/>
              <a:ea typeface="Tahoma" panose="020B0604030504040204" pitchFamily="34" charset="0"/>
              <a:cs typeface="Tahoma" panose="020B0604030504040204" pitchFamily="34" charset="0"/>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1" name="Google Shape;351;p15"/>
          <p:cNvSpPr txBox="1">
            <a:spLocks noGrp="1"/>
          </p:cNvSpPr>
          <p:nvPr>
            <p:ph type="ctrTitle"/>
          </p:nvPr>
        </p:nvSpPr>
        <p:spPr>
          <a:xfrm>
            <a:off x="-12192" y="10774"/>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Proposed Solution</a:t>
            </a:r>
            <a:endParaRPr sz="3000" b="1" dirty="0">
              <a:solidFill>
                <a:srgbClr val="FFFFFF"/>
              </a:solidFill>
              <a:latin typeface="Roboto"/>
              <a:ea typeface="Roboto"/>
              <a:cs typeface="Roboto"/>
              <a:sym typeface="Roboto"/>
            </a:endParaRPr>
          </a:p>
        </p:txBody>
      </p:sp>
      <p:sp>
        <p:nvSpPr>
          <p:cNvPr id="352" name="Google Shape;352;p15"/>
          <p:cNvSpPr txBox="1"/>
          <p:nvPr/>
        </p:nvSpPr>
        <p:spPr>
          <a:xfrm>
            <a:off x="-12192" y="5400375"/>
            <a:ext cx="9119615" cy="4023025"/>
          </a:xfrm>
          <a:prstGeom prst="rect">
            <a:avLst/>
          </a:prstGeom>
          <a:noFill/>
          <a:ln>
            <a:noFill/>
          </a:ln>
        </p:spPr>
        <p:txBody>
          <a:bodyPr spcFirstLastPara="1" wrap="square" lIns="274300" tIns="274300" rIns="274300" bIns="274300" anchor="t" anchorCtr="0">
            <a:noAutofit/>
          </a:bodyPr>
          <a:lstStyle/>
          <a:p>
            <a:pPr marL="0" lvl="0" indent="0" algn="just" rtl="0">
              <a:lnSpc>
                <a:spcPct val="150000"/>
              </a:lnSpc>
              <a:spcBef>
                <a:spcPts val="1600"/>
              </a:spcBef>
              <a:spcAft>
                <a:spcPts val="1600"/>
              </a:spcAft>
              <a:buNone/>
            </a:pPr>
            <a:endParaRPr sz="2000" dirty="0">
              <a:solidFill>
                <a:schemeClr val="dk1"/>
              </a:solidFill>
              <a:latin typeface="Roboto"/>
              <a:ea typeface="Roboto"/>
              <a:cs typeface="Roboto"/>
              <a:sym typeface="Roboto"/>
            </a:endParaRPr>
          </a:p>
        </p:txBody>
      </p:sp>
      <p:sp>
        <p:nvSpPr>
          <p:cNvPr id="353" name="Google Shape;353;p15"/>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54" name="Google Shape;354;p15"/>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5"/>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6826F98A-5065-E5B1-8FA0-5F73695A70DF}"/>
              </a:ext>
            </a:extLst>
          </p:cNvPr>
          <p:cNvSpPr txBox="1"/>
          <p:nvPr/>
        </p:nvSpPr>
        <p:spPr>
          <a:xfrm>
            <a:off x="0" y="753432"/>
            <a:ext cx="9131808" cy="1897955"/>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1600"/>
              </a:spcBef>
              <a:spcAft>
                <a:spcPts val="160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rPr>
              <a:t>Create machine learning model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rPr>
              <a:t>using classification algorithm such as Logistic </a:t>
            </a:r>
            <a:r>
              <a:rPr lang="en-US" sz="2000" dirty="0">
                <a:latin typeface="Bahnschrift SemiLight" panose="020B0502040204020203" pitchFamily="34" charset="0"/>
                <a:ea typeface="Roboto"/>
                <a:cs typeface="Times New Roman" panose="02020603050405020304" pitchFamily="18" charset="0"/>
                <a:sym typeface="Roboto"/>
              </a:rPr>
              <a:t>R</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rPr>
              <a:t>egression, K- Nearest Neighbors Classifier , Decision </a:t>
            </a:r>
            <a:r>
              <a:rPr lang="en-US" sz="2000" dirty="0">
                <a:latin typeface="Bahnschrift SemiLight" panose="020B0502040204020203" pitchFamily="34" charset="0"/>
                <a:ea typeface="Roboto"/>
                <a:cs typeface="Times New Roman" panose="02020603050405020304" pitchFamily="18" charset="0"/>
                <a:sym typeface="Roboto"/>
              </a:rPr>
              <a:t>T</a:t>
            </a:r>
            <a:r>
              <a:rPr kumimoji="0" lang="en-US" sz="2000" b="0" i="0" u="none" strike="noStrike" kern="0" cap="none" spc="0" normalizeH="0" baseline="0" noProof="0" dirty="0" err="1">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rPr>
              <a:t>ree</a:t>
            </a:r>
            <a:r>
              <a:rPr lang="en-US" sz="2000" dirty="0">
                <a:latin typeface="Bahnschrift SemiLight" panose="020B0502040204020203" pitchFamily="34" charset="0"/>
                <a:ea typeface="Roboto"/>
                <a:cs typeface="Times New Roman" panose="02020603050405020304" pitchFamily="18" charset="0"/>
                <a:sym typeface="Roboto"/>
              </a:rPr>
              <a:t> and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rPr>
              <a:t>Random Forest to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rPr>
              <a:t>predict the</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Times New Roman" panose="02020603050405020304" pitchFamily="18" charset="0"/>
                <a:sym typeface="Arial"/>
              </a:rPr>
              <a:t> person can get Diabetes or not</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Times New Roman" panose="02020603050405020304" pitchFamily="18" charset="0"/>
                <a:sym typeface="Arial"/>
              </a:rPr>
              <a:t>.</a:t>
            </a:r>
            <a:endPar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Roboto"/>
              <a:cs typeface="Times New Roman" panose="02020603050405020304" pitchFamily="18" charset="0"/>
              <a:sym typeface="Roboto"/>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0" name="Picture 6">
            <a:extLst>
              <a:ext uri="{FF2B5EF4-FFF2-40B4-BE49-F238E27FC236}">
                <a16:creationId xmlns:a16="http://schemas.microsoft.com/office/drawing/2014/main" id="{8348E880-C269-2137-4CC2-9FAE645F8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1" y="664150"/>
            <a:ext cx="9123898" cy="44793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18" name="Picture 2">
            <a:extLst>
              <a:ext uri="{FF2B5EF4-FFF2-40B4-BE49-F238E27FC236}">
                <a16:creationId xmlns:a16="http://schemas.microsoft.com/office/drawing/2014/main" id="{C1A231A8-1076-20F7-DD34-C931A59A1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0" y="664151"/>
            <a:ext cx="9133949" cy="447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661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a:extLst>
              <a:ext uri="{FF2B5EF4-FFF2-40B4-BE49-F238E27FC236}">
                <a16:creationId xmlns:a16="http://schemas.microsoft.com/office/drawing/2014/main" id="{DA65EED3-7FE5-2B2D-4F3E-41D6A76C82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0" y="735581"/>
            <a:ext cx="4561950" cy="36722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AA4E660-1E90-8287-1888-8CB6C7EDAE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3908" y="747902"/>
            <a:ext cx="4561950" cy="3659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98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50" name="Picture 2">
            <a:extLst>
              <a:ext uri="{FF2B5EF4-FFF2-40B4-BE49-F238E27FC236}">
                <a16:creationId xmlns:a16="http://schemas.microsoft.com/office/drawing/2014/main" id="{84C8E35F-FB1E-1E8E-1102-38DEE06EA2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2" y="747773"/>
            <a:ext cx="4553857" cy="365989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E24DA91B-D631-5128-DBA2-649B6A91F7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4699" y="735827"/>
            <a:ext cx="4556067" cy="3671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09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6" name="Picture 4">
            <a:extLst>
              <a:ext uri="{FF2B5EF4-FFF2-40B4-BE49-F238E27FC236}">
                <a16:creationId xmlns:a16="http://schemas.microsoft.com/office/drawing/2014/main" id="{6DC62422-F9DB-F7DA-9B2F-E758745BE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6" y="738759"/>
            <a:ext cx="4575171" cy="366891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CFE2AAB1-3BDD-C6A3-2F10-6F75D2EBC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7464" y="738758"/>
            <a:ext cx="4540590" cy="366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23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24" name="Picture 4">
            <a:extLst>
              <a:ext uri="{FF2B5EF4-FFF2-40B4-BE49-F238E27FC236}">
                <a16:creationId xmlns:a16="http://schemas.microsoft.com/office/drawing/2014/main" id="{FFAA3819-56A8-E685-A98D-2227EF0CE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738758"/>
            <a:ext cx="4569333" cy="36659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a:extLst>
              <a:ext uri="{FF2B5EF4-FFF2-40B4-BE49-F238E27FC236}">
                <a16:creationId xmlns:a16="http://schemas.microsoft.com/office/drawing/2014/main" id="{99B08709-7B8B-5989-1229-E65F2F67EB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45" y="747774"/>
            <a:ext cx="4540590" cy="3659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09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46" name="Picture 2">
            <a:extLst>
              <a:ext uri="{FF2B5EF4-FFF2-40B4-BE49-F238E27FC236}">
                <a16:creationId xmlns:a16="http://schemas.microsoft.com/office/drawing/2014/main" id="{725E3334-067C-1F18-53E9-EB8CC0E68E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1" y="747773"/>
            <a:ext cx="4559282" cy="365696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069F90D-6FD6-E7DF-5EAE-4742489544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435" y="748020"/>
            <a:ext cx="4544514" cy="3656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5013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70" name="Picture 2">
            <a:extLst>
              <a:ext uri="{FF2B5EF4-FFF2-40B4-BE49-F238E27FC236}">
                <a16:creationId xmlns:a16="http://schemas.microsoft.com/office/drawing/2014/main" id="{1E5BB1A3-9852-73D3-ED68-3D693DC67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0" y="747774"/>
            <a:ext cx="4544513" cy="365672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C0B030CD-9E3F-B3D1-FC95-D8484D25C9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4563" y="735704"/>
            <a:ext cx="4579386" cy="3668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398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1" name="Google Shape;361;p16"/>
          <p:cNvSpPr txBox="1">
            <a:spLocks noGrp="1"/>
          </p:cNvSpPr>
          <p:nvPr>
            <p:ph type="ctrTitle"/>
          </p:nvPr>
        </p:nvSpPr>
        <p:spPr>
          <a:xfrm>
            <a:off x="0" y="-4253"/>
            <a:ext cx="9144000" cy="7399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Descriptive Analysis</a:t>
            </a:r>
            <a:endParaRPr sz="3000" b="1" dirty="0">
              <a:solidFill>
                <a:srgbClr val="FFFFFF"/>
              </a:solidFill>
              <a:latin typeface="Roboto"/>
              <a:ea typeface="Roboto"/>
              <a:cs typeface="Roboto"/>
              <a:sym typeface="Roboto"/>
            </a:endParaRPr>
          </a:p>
        </p:txBody>
      </p:sp>
      <p:sp>
        <p:nvSpPr>
          <p:cNvPr id="362" name="Google Shape;362;p16"/>
          <p:cNvSpPr txBox="1"/>
          <p:nvPr/>
        </p:nvSpPr>
        <p:spPr>
          <a:xfrm>
            <a:off x="-10051" y="735705"/>
            <a:ext cx="9144000" cy="4052826"/>
          </a:xfrm>
          <a:prstGeom prst="rect">
            <a:avLst/>
          </a:prstGeom>
          <a:noFill/>
          <a:ln>
            <a:noFill/>
          </a:ln>
        </p:spPr>
        <p:txBody>
          <a:bodyPr spcFirstLastPara="1" wrap="square" lIns="274300" tIns="274300" rIns="274300" bIns="274300" anchor="t" anchorCtr="0">
            <a:noAutofit/>
          </a:bodyPr>
          <a:lstStyle/>
          <a:p>
            <a:pPr marL="101600" lvl="0" algn="just" rtl="0">
              <a:lnSpc>
                <a:spcPct val="150000"/>
              </a:lnSpc>
              <a:spcBef>
                <a:spcPts val="0"/>
              </a:spcBef>
              <a:spcAft>
                <a:spcPts val="0"/>
              </a:spcAft>
              <a:buSzPts val="2000"/>
            </a:pPr>
            <a:endParaRPr sz="2000" dirty="0">
              <a:latin typeface="Roboto"/>
              <a:ea typeface="Roboto"/>
              <a:cs typeface="Roboto"/>
              <a:sym typeface="Roboto"/>
            </a:endParaRPr>
          </a:p>
        </p:txBody>
      </p:sp>
      <p:sp>
        <p:nvSpPr>
          <p:cNvPr id="363" name="Google Shape;363;p16"/>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64" name="Google Shape;364;p16"/>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6"/>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94" name="Picture 2">
            <a:extLst>
              <a:ext uri="{FF2B5EF4-FFF2-40B4-BE49-F238E27FC236}">
                <a16:creationId xmlns:a16="http://schemas.microsoft.com/office/drawing/2014/main" id="{1D0B555C-CEB4-1ED1-0CAE-26732C5C4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 y="738759"/>
            <a:ext cx="4539704" cy="366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715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1" name="Google Shape;371;p17"/>
          <p:cNvSpPr txBox="1">
            <a:spLocks noGrp="1"/>
          </p:cNvSpPr>
          <p:nvPr>
            <p:ph type="ctrTitle"/>
          </p:nvPr>
        </p:nvSpPr>
        <p:spPr>
          <a:xfrm>
            <a:off x="0" y="27644"/>
            <a:ext cx="9144000" cy="666570"/>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Effect of Data Pre-processing</a:t>
            </a:r>
            <a:endParaRPr sz="3000" b="1" dirty="0">
              <a:solidFill>
                <a:srgbClr val="FFFFFF"/>
              </a:solidFill>
              <a:latin typeface="Roboto"/>
              <a:ea typeface="Roboto"/>
              <a:cs typeface="Roboto"/>
              <a:sym typeface="Roboto"/>
            </a:endParaRPr>
          </a:p>
        </p:txBody>
      </p:sp>
      <p:sp>
        <p:nvSpPr>
          <p:cNvPr id="373" name="Google Shape;373;p17"/>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74" name="Google Shape;374;p17"/>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7"/>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6844B08B-A1A4-1E6B-92E6-716EC493BBE2}"/>
              </a:ext>
            </a:extLst>
          </p:cNvPr>
          <p:cNvSpPr txBox="1"/>
          <p:nvPr/>
        </p:nvSpPr>
        <p:spPr>
          <a:xfrm>
            <a:off x="-10050" y="694214"/>
            <a:ext cx="9144000" cy="2246769"/>
          </a:xfrm>
          <a:prstGeom prst="rect">
            <a:avLst/>
          </a:prstGeom>
          <a:noFill/>
        </p:spPr>
        <p:txBody>
          <a:bodyPr wrap="square" rtlCol="0">
            <a:spAutoFit/>
          </a:bodyPr>
          <a:lstStyle/>
          <a:p>
            <a:pPr algn="just"/>
            <a:r>
              <a:rPr lang="en-US" sz="2000" b="0" i="0" dirty="0">
                <a:solidFill>
                  <a:schemeClr val="tx1"/>
                </a:solidFill>
                <a:effectLst/>
                <a:latin typeface="Bahnschrift SemiLight" panose="020B0502040204020203" pitchFamily="34" charset="0"/>
              </a:rPr>
              <a:t>Pre-processing refers to the transformations applied to our data before feeding it to the algorithm. </a:t>
            </a:r>
            <a:r>
              <a:rPr lang="en-US" sz="2000" b="1" i="0" dirty="0">
                <a:solidFill>
                  <a:schemeClr val="tx1"/>
                </a:solidFill>
                <a:effectLst/>
                <a:latin typeface="Bahnschrift SemiLight" panose="020B0502040204020203" pitchFamily="34" charset="0"/>
              </a:rPr>
              <a:t>Data Preprocessing </a:t>
            </a:r>
            <a:r>
              <a:rPr lang="en-US" sz="2000" b="0" i="0" dirty="0">
                <a:solidFill>
                  <a:schemeClr val="tx1"/>
                </a:solidFill>
                <a:effectLst/>
                <a:latin typeface="Bahnschrift SemiLight" panose="020B0502040204020203" pitchFamily="34" charset="0"/>
              </a:rPr>
              <a:t>is a </a:t>
            </a:r>
            <a:r>
              <a:rPr lang="en-US" sz="2000" b="1" i="0" dirty="0">
                <a:solidFill>
                  <a:schemeClr val="tx1"/>
                </a:solidFill>
                <a:effectLst/>
                <a:latin typeface="Bahnschrift SemiLight" panose="020B0502040204020203" pitchFamily="34" charset="0"/>
              </a:rPr>
              <a:t>technique</a:t>
            </a:r>
            <a:r>
              <a:rPr lang="en-US" sz="2000" b="0" i="0" dirty="0">
                <a:solidFill>
                  <a:schemeClr val="tx1"/>
                </a:solidFill>
                <a:effectLst/>
                <a:latin typeface="Bahnschrift SemiLight" panose="020B0502040204020203" pitchFamily="34" charset="0"/>
              </a:rPr>
              <a:t> that is used to </a:t>
            </a:r>
            <a:r>
              <a:rPr lang="en-US" sz="2000" b="1" i="0" dirty="0">
                <a:solidFill>
                  <a:schemeClr val="tx1"/>
                </a:solidFill>
                <a:effectLst/>
                <a:latin typeface="Bahnschrift SemiLight" panose="020B0502040204020203" pitchFamily="34" charset="0"/>
              </a:rPr>
              <a:t>convert the raw data into a clean data set</a:t>
            </a:r>
            <a:r>
              <a:rPr lang="en-US" sz="2000" b="0" i="0" dirty="0">
                <a:solidFill>
                  <a:schemeClr val="tx1"/>
                </a:solidFill>
                <a:effectLst/>
                <a:latin typeface="Bahnschrift SemiLight" panose="020B0502040204020203" pitchFamily="34" charset="0"/>
              </a:rPr>
              <a:t>. In other words, whenever the data is gathered from different sources it is collected in raw format which is not feasible for the analysis. We need this For achieving better results from the applied model in Machine Learning projects the </a:t>
            </a:r>
            <a:r>
              <a:rPr lang="en-US" sz="2000" b="1" i="0" dirty="0">
                <a:solidFill>
                  <a:schemeClr val="tx1"/>
                </a:solidFill>
                <a:effectLst/>
                <a:latin typeface="Bahnschrift SemiLight" panose="020B0502040204020203" pitchFamily="34" charset="0"/>
              </a:rPr>
              <a:t>format</a:t>
            </a:r>
            <a:r>
              <a:rPr lang="en-US" sz="2000" b="0" i="0" dirty="0">
                <a:solidFill>
                  <a:schemeClr val="tx1"/>
                </a:solidFill>
                <a:effectLst/>
                <a:latin typeface="Bahnschrift SemiLight" panose="020B0502040204020203" pitchFamily="34" charset="0"/>
              </a:rPr>
              <a:t> of the </a:t>
            </a:r>
            <a:r>
              <a:rPr lang="en-US" sz="2000" b="1" i="0" dirty="0">
                <a:solidFill>
                  <a:schemeClr val="tx1"/>
                </a:solidFill>
                <a:effectLst/>
                <a:latin typeface="Bahnschrift SemiLight" panose="020B0502040204020203" pitchFamily="34" charset="0"/>
              </a:rPr>
              <a:t>data</a:t>
            </a:r>
            <a:r>
              <a:rPr lang="en-US" sz="2000" b="0" i="0" dirty="0">
                <a:solidFill>
                  <a:schemeClr val="tx1"/>
                </a:solidFill>
                <a:effectLst/>
                <a:latin typeface="Bahnschrift SemiLight" panose="020B0502040204020203" pitchFamily="34" charset="0"/>
              </a:rPr>
              <a:t> has to be </a:t>
            </a:r>
            <a:r>
              <a:rPr lang="en-US" sz="2000" b="1" i="0" dirty="0">
                <a:solidFill>
                  <a:schemeClr val="tx1"/>
                </a:solidFill>
                <a:effectLst/>
                <a:latin typeface="Bahnschrift SemiLight" panose="020B0502040204020203" pitchFamily="34" charset="0"/>
              </a:rPr>
              <a:t>in a proper manner</a:t>
            </a:r>
            <a:r>
              <a:rPr lang="en-US" sz="2000" b="0" i="0" dirty="0">
                <a:solidFill>
                  <a:schemeClr val="tx1"/>
                </a:solidFill>
                <a:effectLst/>
                <a:latin typeface="Bahnschrift SemiLight" panose="020B0502040204020203" pitchFamily="34" charset="0"/>
              </a:rPr>
              <a:t>.</a:t>
            </a:r>
            <a:r>
              <a:rPr lang="en-IN" sz="2000" dirty="0">
                <a:latin typeface="Bahnschrift SemiLight" panose="020B0502040204020203" pitchFamily="34"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1" name="Google Shape;381;p18"/>
          <p:cNvSpPr txBox="1">
            <a:spLocks noGrp="1"/>
          </p:cNvSpPr>
          <p:nvPr>
            <p:ph type="ctrTitle"/>
          </p:nvPr>
        </p:nvSpPr>
        <p:spPr>
          <a:xfrm>
            <a:off x="0" y="27645"/>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US" sz="3000" b="1" dirty="0">
                <a:solidFill>
                  <a:srgbClr val="FFFFFF"/>
                </a:solidFill>
                <a:latin typeface="Roboto"/>
                <a:ea typeface="Roboto"/>
                <a:cs typeface="Roboto"/>
                <a:sym typeface="Roboto"/>
              </a:rPr>
              <a:t>Machine Learning Modelling</a:t>
            </a:r>
            <a:endParaRPr sz="3000" b="1" dirty="0">
              <a:solidFill>
                <a:srgbClr val="FFFFFF"/>
              </a:solidFill>
              <a:latin typeface="Roboto"/>
              <a:ea typeface="Roboto"/>
              <a:cs typeface="Roboto"/>
              <a:sym typeface="Roboto"/>
            </a:endParaRPr>
          </a:p>
        </p:txBody>
      </p:sp>
      <p:sp>
        <p:nvSpPr>
          <p:cNvPr id="382" name="Google Shape;382;p18"/>
          <p:cNvSpPr txBox="1"/>
          <p:nvPr/>
        </p:nvSpPr>
        <p:spPr>
          <a:xfrm>
            <a:off x="0" y="5601050"/>
            <a:ext cx="9144000" cy="3995403"/>
          </a:xfrm>
          <a:prstGeom prst="rect">
            <a:avLst/>
          </a:prstGeom>
          <a:noFill/>
          <a:ln>
            <a:noFill/>
          </a:ln>
        </p:spPr>
        <p:txBody>
          <a:bodyPr spcFirstLastPara="1" wrap="square" lIns="274300" tIns="274300" rIns="274300" bIns="274300" anchor="t" anchorCtr="0">
            <a:noAutofit/>
          </a:bodyPr>
          <a:lstStyle/>
          <a:p>
            <a:pPr marL="101600" lvl="0" algn="just" rtl="0">
              <a:spcBef>
                <a:spcPts val="0"/>
              </a:spcBef>
              <a:spcAft>
                <a:spcPts val="0"/>
              </a:spcAft>
              <a:buSzPts val="2000"/>
            </a:pPr>
            <a:endParaRPr lang="en-US" sz="1800" b="1" dirty="0">
              <a:solidFill>
                <a:schemeClr val="dk1"/>
              </a:solidFill>
              <a:latin typeface="Tahoma" panose="020B0604030504040204" pitchFamily="34" charset="0"/>
              <a:ea typeface="Tahoma" panose="020B0604030504040204" pitchFamily="34" charset="0"/>
              <a:cs typeface="Tahoma" panose="020B0604030504040204" pitchFamily="34" charset="0"/>
              <a:sym typeface="Roboto"/>
            </a:endParaRPr>
          </a:p>
        </p:txBody>
      </p:sp>
      <p:sp>
        <p:nvSpPr>
          <p:cNvPr id="383" name="Google Shape;383;p18"/>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84" name="Google Shape;384;p18"/>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8"/>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0D594E6A-E187-57EF-E966-BA3CE5EB8553}"/>
              </a:ext>
            </a:extLst>
          </p:cNvPr>
          <p:cNvSpPr txBox="1"/>
          <p:nvPr/>
        </p:nvSpPr>
        <p:spPr>
          <a:xfrm>
            <a:off x="0" y="770303"/>
            <a:ext cx="9144000" cy="3170099"/>
          </a:xfrm>
          <a:prstGeom prst="rect">
            <a:avLst/>
          </a:prstGeom>
          <a:noFill/>
        </p:spPr>
        <p:txBody>
          <a:bodyPr wrap="square" rtlCol="0">
            <a:spAutoFit/>
          </a:bodyPr>
          <a:lstStyle/>
          <a:p>
            <a:pPr marL="101600" lvl="0" algn="just" rtl="0">
              <a:spcBef>
                <a:spcPts val="0"/>
              </a:spcBef>
              <a:spcAft>
                <a:spcPts val="0"/>
              </a:spcAft>
              <a:buSzPts val="2000"/>
            </a:pP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A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machine learning model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is an expression of an algorithm that combs through mountains of data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to find patterns</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 or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make predictions</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 </a:t>
            </a:r>
          </a:p>
          <a:p>
            <a:pPr marL="10160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Machine Learning (ML) models are the mathematical engines of artificial intelligence.</a:t>
            </a:r>
            <a:endParaRPr kumimoji="0" lang="en-US" sz="2000" b="0" i="0" u="none" strike="noStrike" kern="0" cap="none" spc="0" normalizeH="0" baseline="0" noProof="0" dirty="0">
              <a:ln>
                <a:noFill/>
              </a:ln>
              <a:solidFill>
                <a:srgbClr val="333333"/>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endParaRPr>
          </a:p>
          <a:p>
            <a:pPr marL="10160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Arial"/>
              </a:rPr>
              <a:t>A machine learning model has been trained to recognize certain types of patterns. You train a model over a set of data, providing it an algorithm that it can use to reason over and learn from those data</a:t>
            </a:r>
            <a:endPar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endParaRPr>
          </a:p>
          <a:p>
            <a:pPr marL="10160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rPr>
              <a:t>In this we have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rPr>
              <a:t>used</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rPr>
              <a:t> various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rPr>
              <a:t>ML models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rPr>
              <a:t>to predict the output such as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ea typeface="Tahoma" panose="020B0604030504040204" pitchFamily="34" charset="0"/>
                <a:cs typeface="Tahoma" panose="020B0604030504040204" pitchFamily="34" charset="0"/>
                <a:sym typeface="Roboto"/>
              </a:rPr>
              <a:t>Logistic Regression, K-Nearest Neighbors (KNN) Classifier, Decision Tree Classifier and Random Forest Classifier.</a:t>
            </a:r>
            <a:endParaRPr kumimoji="0" lang="en-US" sz="2000" b="1" i="0" u="none" strike="noStrike" kern="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81;p18">
            <a:extLst>
              <a:ext uri="{FF2B5EF4-FFF2-40B4-BE49-F238E27FC236}">
                <a16:creationId xmlns:a16="http://schemas.microsoft.com/office/drawing/2014/main" id="{24C37490-FFC1-A45F-367D-680055AC5461}"/>
              </a:ext>
            </a:extLst>
          </p:cNvPr>
          <p:cNvSpPr txBox="1">
            <a:spLocks/>
          </p:cNvSpPr>
          <p:nvPr/>
        </p:nvSpPr>
        <p:spPr>
          <a:xfrm>
            <a:off x="0" y="27645"/>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0000">
              <a:lnSpc>
                <a:spcPct val="150000"/>
              </a:lnSpc>
              <a:spcAft>
                <a:spcPts val="1600"/>
              </a:spcAft>
            </a:pPr>
            <a:r>
              <a:rPr lang="en-US" sz="3000" b="1">
                <a:solidFill>
                  <a:srgbClr val="FFFFFF"/>
                </a:solidFill>
                <a:latin typeface="Roboto"/>
                <a:ea typeface="Roboto"/>
                <a:cs typeface="Roboto"/>
                <a:sym typeface="Roboto"/>
              </a:rPr>
              <a:t>Machine Learning Modelling</a:t>
            </a:r>
            <a:endParaRPr lang="en-US" sz="3000" b="1" dirty="0">
              <a:solidFill>
                <a:srgbClr val="FFFFFF"/>
              </a:solidFill>
              <a:latin typeface="Roboto"/>
              <a:ea typeface="Roboto"/>
              <a:cs typeface="Roboto"/>
              <a:sym typeface="Roboto"/>
            </a:endParaRPr>
          </a:p>
        </p:txBody>
      </p:sp>
      <p:sp>
        <p:nvSpPr>
          <p:cNvPr id="4" name="Google Shape;383;p18">
            <a:extLst>
              <a:ext uri="{FF2B5EF4-FFF2-40B4-BE49-F238E27FC236}">
                <a16:creationId xmlns:a16="http://schemas.microsoft.com/office/drawing/2014/main" id="{C16EA1D3-0340-E261-DC09-5D5C5994E1C5}"/>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5" name="Google Shape;384;p18">
            <a:extLst>
              <a:ext uri="{FF2B5EF4-FFF2-40B4-BE49-F238E27FC236}">
                <a16:creationId xmlns:a16="http://schemas.microsoft.com/office/drawing/2014/main" id="{F547A26C-BC23-A27F-FEF1-A6900D040EEA}"/>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85;p18">
            <a:extLst>
              <a:ext uri="{FF2B5EF4-FFF2-40B4-BE49-F238E27FC236}">
                <a16:creationId xmlns:a16="http://schemas.microsoft.com/office/drawing/2014/main" id="{697AA77C-37AD-40AE-4F92-8C2112B0A5E0}"/>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817DA2D8-A032-9F3E-39CA-DB13FD2CA52C}"/>
              </a:ext>
            </a:extLst>
          </p:cNvPr>
          <p:cNvPicPr>
            <a:picLocks noChangeAspect="1"/>
          </p:cNvPicPr>
          <p:nvPr/>
        </p:nvPicPr>
        <p:blipFill>
          <a:blip r:embed="rId3"/>
          <a:stretch>
            <a:fillRect/>
          </a:stretch>
        </p:blipFill>
        <p:spPr>
          <a:xfrm>
            <a:off x="0" y="770302"/>
            <a:ext cx="4572000" cy="4030297"/>
          </a:xfrm>
          <a:prstGeom prst="rect">
            <a:avLst/>
          </a:prstGeom>
        </p:spPr>
      </p:pic>
      <p:pic>
        <p:nvPicPr>
          <p:cNvPr id="11" name="Picture 10">
            <a:extLst>
              <a:ext uri="{FF2B5EF4-FFF2-40B4-BE49-F238E27FC236}">
                <a16:creationId xmlns:a16="http://schemas.microsoft.com/office/drawing/2014/main" id="{5D875A4C-E8CF-1CB9-4CBA-B79EEFF2B0A2}"/>
              </a:ext>
            </a:extLst>
          </p:cNvPr>
          <p:cNvPicPr>
            <a:picLocks noChangeAspect="1"/>
          </p:cNvPicPr>
          <p:nvPr/>
        </p:nvPicPr>
        <p:blipFill rotWithShape="1">
          <a:blip r:embed="rId4"/>
          <a:srcRect b="36874"/>
          <a:stretch/>
        </p:blipFill>
        <p:spPr>
          <a:xfrm>
            <a:off x="4582051" y="770557"/>
            <a:ext cx="4549250" cy="4030042"/>
          </a:xfrm>
          <a:prstGeom prst="rect">
            <a:avLst/>
          </a:prstGeom>
        </p:spPr>
      </p:pic>
    </p:spTree>
    <p:extLst>
      <p:ext uri="{BB962C8B-B14F-4D97-AF65-F5344CB8AC3E}">
        <p14:creationId xmlns:p14="http://schemas.microsoft.com/office/powerpoint/2010/main" val="1179858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81;p18">
            <a:extLst>
              <a:ext uri="{FF2B5EF4-FFF2-40B4-BE49-F238E27FC236}">
                <a16:creationId xmlns:a16="http://schemas.microsoft.com/office/drawing/2014/main" id="{24C37490-FFC1-A45F-367D-680055AC5461}"/>
              </a:ext>
            </a:extLst>
          </p:cNvPr>
          <p:cNvSpPr txBox="1">
            <a:spLocks/>
          </p:cNvSpPr>
          <p:nvPr/>
        </p:nvSpPr>
        <p:spPr>
          <a:xfrm>
            <a:off x="0" y="27645"/>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0000">
              <a:lnSpc>
                <a:spcPct val="150000"/>
              </a:lnSpc>
              <a:spcAft>
                <a:spcPts val="1600"/>
              </a:spcAft>
            </a:pPr>
            <a:r>
              <a:rPr lang="en-US" sz="3000" b="1">
                <a:solidFill>
                  <a:srgbClr val="FFFFFF"/>
                </a:solidFill>
                <a:latin typeface="Roboto"/>
                <a:ea typeface="Roboto"/>
                <a:cs typeface="Roboto"/>
                <a:sym typeface="Roboto"/>
              </a:rPr>
              <a:t>Machine Learning Modelling</a:t>
            </a:r>
            <a:endParaRPr lang="en-US" sz="3000" b="1" dirty="0">
              <a:solidFill>
                <a:srgbClr val="FFFFFF"/>
              </a:solidFill>
              <a:latin typeface="Roboto"/>
              <a:ea typeface="Roboto"/>
              <a:cs typeface="Roboto"/>
              <a:sym typeface="Roboto"/>
            </a:endParaRPr>
          </a:p>
        </p:txBody>
      </p:sp>
      <p:sp>
        <p:nvSpPr>
          <p:cNvPr id="4" name="Google Shape;383;p18">
            <a:extLst>
              <a:ext uri="{FF2B5EF4-FFF2-40B4-BE49-F238E27FC236}">
                <a16:creationId xmlns:a16="http://schemas.microsoft.com/office/drawing/2014/main" id="{C16EA1D3-0340-E261-DC09-5D5C5994E1C5}"/>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5" name="Google Shape;384;p18">
            <a:extLst>
              <a:ext uri="{FF2B5EF4-FFF2-40B4-BE49-F238E27FC236}">
                <a16:creationId xmlns:a16="http://schemas.microsoft.com/office/drawing/2014/main" id="{F547A26C-BC23-A27F-FEF1-A6900D040EEA}"/>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85;p18">
            <a:extLst>
              <a:ext uri="{FF2B5EF4-FFF2-40B4-BE49-F238E27FC236}">
                <a16:creationId xmlns:a16="http://schemas.microsoft.com/office/drawing/2014/main" id="{697AA77C-37AD-40AE-4F92-8C2112B0A5E0}"/>
              </a:ext>
            </a:extLst>
          </p:cNvPr>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42" name="Picture 2">
            <a:extLst>
              <a:ext uri="{FF2B5EF4-FFF2-40B4-BE49-F238E27FC236}">
                <a16:creationId xmlns:a16="http://schemas.microsoft.com/office/drawing/2014/main" id="{D10A15A6-3F51-B78C-4633-36EEA2F6F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9" y="766762"/>
            <a:ext cx="4569352" cy="4033838"/>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4">
            <a:extLst>
              <a:ext uri="{FF2B5EF4-FFF2-40B4-BE49-F238E27FC236}">
                <a16:creationId xmlns:a16="http://schemas.microsoft.com/office/drawing/2014/main" id="{DB12C50B-85F4-1BD6-8727-E10B99FD42C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4B42BAD1-30AF-A94B-F26B-C104905183D9}"/>
              </a:ext>
            </a:extLst>
          </p:cNvPr>
          <p:cNvPicPr>
            <a:picLocks noChangeAspect="1"/>
          </p:cNvPicPr>
          <p:nvPr/>
        </p:nvPicPr>
        <p:blipFill>
          <a:blip r:embed="rId4"/>
          <a:stretch>
            <a:fillRect/>
          </a:stretch>
        </p:blipFill>
        <p:spPr>
          <a:xfrm>
            <a:off x="4561950" y="766762"/>
            <a:ext cx="4569352" cy="4033838"/>
          </a:xfrm>
          <a:prstGeom prst="rect">
            <a:avLst/>
          </a:prstGeom>
        </p:spPr>
      </p:pic>
    </p:spTree>
    <p:extLst>
      <p:ext uri="{BB962C8B-B14F-4D97-AF65-F5344CB8AC3E}">
        <p14:creationId xmlns:p14="http://schemas.microsoft.com/office/powerpoint/2010/main" val="4101866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81;p18">
            <a:extLst>
              <a:ext uri="{FF2B5EF4-FFF2-40B4-BE49-F238E27FC236}">
                <a16:creationId xmlns:a16="http://schemas.microsoft.com/office/drawing/2014/main" id="{24C37490-FFC1-A45F-367D-680055AC5461}"/>
              </a:ext>
            </a:extLst>
          </p:cNvPr>
          <p:cNvSpPr txBox="1">
            <a:spLocks/>
          </p:cNvSpPr>
          <p:nvPr/>
        </p:nvSpPr>
        <p:spPr>
          <a:xfrm>
            <a:off x="0" y="27645"/>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0000">
              <a:lnSpc>
                <a:spcPct val="150000"/>
              </a:lnSpc>
              <a:spcAft>
                <a:spcPts val="1600"/>
              </a:spcAft>
            </a:pPr>
            <a:r>
              <a:rPr lang="en-US" sz="3000" b="1">
                <a:solidFill>
                  <a:srgbClr val="FFFFFF"/>
                </a:solidFill>
                <a:latin typeface="Roboto"/>
                <a:ea typeface="Roboto"/>
                <a:cs typeface="Roboto"/>
                <a:sym typeface="Roboto"/>
              </a:rPr>
              <a:t>Machine Learning Modelling</a:t>
            </a:r>
            <a:endParaRPr lang="en-US" sz="3000" b="1" dirty="0">
              <a:solidFill>
                <a:srgbClr val="FFFFFF"/>
              </a:solidFill>
              <a:latin typeface="Roboto"/>
              <a:ea typeface="Roboto"/>
              <a:cs typeface="Roboto"/>
              <a:sym typeface="Roboto"/>
            </a:endParaRPr>
          </a:p>
        </p:txBody>
      </p:sp>
      <p:sp>
        <p:nvSpPr>
          <p:cNvPr id="4" name="Google Shape;383;p18">
            <a:extLst>
              <a:ext uri="{FF2B5EF4-FFF2-40B4-BE49-F238E27FC236}">
                <a16:creationId xmlns:a16="http://schemas.microsoft.com/office/drawing/2014/main" id="{C16EA1D3-0340-E261-DC09-5D5C5994E1C5}"/>
              </a:ext>
            </a:extLst>
          </p:cNvPr>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5" name="Google Shape;384;p18">
            <a:extLst>
              <a:ext uri="{FF2B5EF4-FFF2-40B4-BE49-F238E27FC236}">
                <a16:creationId xmlns:a16="http://schemas.microsoft.com/office/drawing/2014/main" id="{F547A26C-BC23-A27F-FEF1-A6900D040EEA}"/>
              </a:ext>
            </a:extLst>
          </p:cNvPr>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AutoShape 6">
            <a:extLst>
              <a:ext uri="{FF2B5EF4-FFF2-40B4-BE49-F238E27FC236}">
                <a16:creationId xmlns:a16="http://schemas.microsoft.com/office/drawing/2014/main" id="{DF2D0C91-E401-1930-C714-01B69EAC7621}"/>
              </a:ext>
            </a:extLst>
          </p:cNvPr>
          <p:cNvSpPr>
            <a:spLocks noChangeAspect="1" noChangeArrowheads="1"/>
          </p:cNvSpPr>
          <p:nvPr/>
        </p:nvSpPr>
        <p:spPr bwMode="auto">
          <a:xfrm>
            <a:off x="-2819400" y="-1631950"/>
            <a:ext cx="8102600" cy="8102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2C809C63-E599-B17E-949B-6CA16957A785}"/>
              </a:ext>
            </a:extLst>
          </p:cNvPr>
          <p:cNvPicPr>
            <a:picLocks noChangeAspect="1"/>
          </p:cNvPicPr>
          <p:nvPr/>
        </p:nvPicPr>
        <p:blipFill>
          <a:blip r:embed="rId3"/>
          <a:stretch>
            <a:fillRect/>
          </a:stretch>
        </p:blipFill>
        <p:spPr>
          <a:xfrm>
            <a:off x="0" y="789353"/>
            <a:ext cx="4572000" cy="4011247"/>
          </a:xfrm>
          <a:prstGeom prst="rect">
            <a:avLst/>
          </a:prstGeom>
        </p:spPr>
      </p:pic>
      <p:pic>
        <p:nvPicPr>
          <p:cNvPr id="14" name="Picture 13">
            <a:extLst>
              <a:ext uri="{FF2B5EF4-FFF2-40B4-BE49-F238E27FC236}">
                <a16:creationId xmlns:a16="http://schemas.microsoft.com/office/drawing/2014/main" id="{F735C315-1820-FDAF-89B4-3998E8C9C987}"/>
              </a:ext>
            </a:extLst>
          </p:cNvPr>
          <p:cNvPicPr>
            <a:picLocks noChangeAspect="1"/>
          </p:cNvPicPr>
          <p:nvPr/>
        </p:nvPicPr>
        <p:blipFill>
          <a:blip r:embed="rId4"/>
          <a:stretch>
            <a:fillRect/>
          </a:stretch>
        </p:blipFill>
        <p:spPr>
          <a:xfrm>
            <a:off x="4582051" y="770302"/>
            <a:ext cx="4549250" cy="4030298"/>
          </a:xfrm>
          <a:prstGeom prst="rect">
            <a:avLst/>
          </a:prstGeom>
        </p:spPr>
      </p:pic>
    </p:spTree>
    <p:extLst>
      <p:ext uri="{BB962C8B-B14F-4D97-AF65-F5344CB8AC3E}">
        <p14:creationId xmlns:p14="http://schemas.microsoft.com/office/powerpoint/2010/main" val="90665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55052"/>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Conclusion</a:t>
            </a:r>
            <a:endParaRPr sz="3000" b="1" dirty="0">
              <a:solidFill>
                <a:srgbClr val="FFFFFF"/>
              </a:solidFill>
              <a:latin typeface="Roboto"/>
              <a:ea typeface="Roboto"/>
              <a:cs typeface="Roboto"/>
              <a:sym typeface="Roboto"/>
            </a:endParaRPr>
          </a:p>
        </p:txBody>
      </p:sp>
      <p:sp>
        <p:nvSpPr>
          <p:cNvPr id="392" name="Google Shape;392;p19"/>
          <p:cNvSpPr txBox="1"/>
          <p:nvPr/>
        </p:nvSpPr>
        <p:spPr>
          <a:xfrm>
            <a:off x="140450" y="7787878"/>
            <a:ext cx="9141350" cy="4062194"/>
          </a:xfrm>
          <a:prstGeom prst="rect">
            <a:avLst/>
          </a:prstGeom>
          <a:noFill/>
          <a:ln>
            <a:noFill/>
          </a:ln>
        </p:spPr>
        <p:txBody>
          <a:bodyPr spcFirstLastPara="1" wrap="square" lIns="274300" tIns="274300" rIns="274300" bIns="274300" anchor="t" anchorCtr="0">
            <a:noAutofit/>
          </a:bodyPr>
          <a:lstStyle/>
          <a:p>
            <a:pPr marL="457200" lvl="0" indent="0" algn="just" rtl="0">
              <a:lnSpc>
                <a:spcPct val="150000"/>
              </a:lnSpc>
              <a:spcBef>
                <a:spcPts val="1600"/>
              </a:spcBef>
              <a:spcAft>
                <a:spcPts val="1600"/>
              </a:spcAft>
              <a:buNone/>
            </a:pPr>
            <a:endParaRPr sz="2000" dirty="0">
              <a:solidFill>
                <a:schemeClr val="dk1"/>
              </a:solidFill>
              <a:latin typeface="Roboto"/>
              <a:ea typeface="Roboto"/>
              <a:cs typeface="Roboto"/>
              <a:sym typeface="Roboto"/>
            </a:endParaRPr>
          </a:p>
        </p:txBody>
      </p:sp>
      <p:sp>
        <p:nvSpPr>
          <p:cNvPr id="393" name="Google Shape;393;p19"/>
          <p:cNvSpPr txBox="1"/>
          <p:nvPr/>
        </p:nvSpPr>
        <p:spPr>
          <a:xfrm>
            <a:off x="-10050" y="48641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dirty="0">
                <a:solidFill>
                  <a:srgbClr val="FFFFFF"/>
                </a:solidFill>
                <a:latin typeface="Roboto"/>
                <a:ea typeface="Roboto"/>
                <a:cs typeface="Roboto"/>
                <a:sym typeface="Roboto"/>
              </a:rPr>
              <a:t>© All rights reserved by </a:t>
            </a:r>
            <a:r>
              <a:rPr lang="en-GB" sz="1200" dirty="0" err="1">
                <a:solidFill>
                  <a:srgbClr val="FFFFFF"/>
                </a:solidFill>
                <a:latin typeface="Roboto"/>
                <a:ea typeface="Roboto"/>
                <a:cs typeface="Roboto"/>
                <a:sym typeface="Roboto"/>
              </a:rPr>
              <a:t>Fireblaze</a:t>
            </a:r>
            <a:r>
              <a:rPr lang="en-GB" sz="1200" dirty="0">
                <a:solidFill>
                  <a:srgbClr val="FFFFFF"/>
                </a:solidFill>
                <a:latin typeface="Roboto"/>
                <a:ea typeface="Roboto"/>
                <a:cs typeface="Roboto"/>
                <a:sym typeface="Roboto"/>
              </a:rPr>
              <a:t> Technologies </a:t>
            </a:r>
            <a:r>
              <a:rPr lang="en-GB" sz="1200" dirty="0" err="1">
                <a:solidFill>
                  <a:srgbClr val="FFFFFF"/>
                </a:solidFill>
                <a:latin typeface="Roboto"/>
                <a:ea typeface="Roboto"/>
                <a:cs typeface="Roboto"/>
                <a:sym typeface="Roboto"/>
              </a:rPr>
              <a:t>Pvt.</a:t>
            </a:r>
            <a:r>
              <a:rPr lang="en-GB" sz="1200" dirty="0">
                <a:solidFill>
                  <a:srgbClr val="FFFFFF"/>
                </a:solidFill>
                <a:latin typeface="Roboto"/>
                <a:ea typeface="Roboto"/>
                <a:cs typeface="Roboto"/>
                <a:sym typeface="Roboto"/>
              </a:rPr>
              <a:t> Ltd.</a:t>
            </a:r>
            <a:endParaRPr sz="1200" dirty="0">
              <a:solidFill>
                <a:srgbClr val="FFFFFF"/>
              </a:solidFill>
              <a:latin typeface="Roboto"/>
              <a:ea typeface="Roboto"/>
              <a:cs typeface="Roboto"/>
              <a:sym typeface="Roboto"/>
            </a:endParaRPr>
          </a:p>
        </p:txBody>
      </p:sp>
      <p:sp>
        <p:nvSpPr>
          <p:cNvPr id="394" name="Google Shape;394;p19"/>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4A50AB5C-5864-B2AD-0E94-5B1C07352E82}"/>
              </a:ext>
            </a:extLst>
          </p:cNvPr>
          <p:cNvSpPr txBox="1"/>
          <p:nvPr/>
        </p:nvSpPr>
        <p:spPr>
          <a:xfrm>
            <a:off x="0" y="586006"/>
            <a:ext cx="9144000" cy="4401205"/>
          </a:xfrm>
          <a:prstGeom prst="rect">
            <a:avLst/>
          </a:prstGeom>
          <a:noFill/>
        </p:spPr>
        <p:txBody>
          <a:bodyPr wrap="square" rtlCol="0">
            <a:spAutoFit/>
          </a:bodyPr>
          <a:lstStyle/>
          <a:p>
            <a:pPr algn="just"/>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Our</a:t>
            </a:r>
            <a:r>
              <a:rPr lang="en-US" sz="2000"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Machine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L</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earning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M</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odel </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is</a:t>
            </a:r>
            <a:r>
              <a:rPr lang="en-US" sz="2000"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trained to classify</a:t>
            </a:r>
            <a:r>
              <a:rPr lang="en-US" sz="2000"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that whether a person is will </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get DIABETES or not </a:t>
            </a:r>
            <a:r>
              <a:rPr lang="en-US" sz="2000"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from the dataset</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info</a:t>
            </a:r>
            <a:r>
              <a:rPr lang="en-US" sz="2000"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which </a:t>
            </a:r>
            <a:r>
              <a:rPr lang="en-US" sz="2000" b="1"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can give insight to the Doctors and Patients </a:t>
            </a:r>
            <a:r>
              <a:rPr lang="en-US" sz="2000" i="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as well.</a:t>
            </a:r>
            <a:endPar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endParaRPr>
          </a:p>
          <a:p>
            <a:pPr algn="just"/>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We have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Processed and Cleaned</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our</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Data</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using the </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Missing Data </a:t>
            </a:r>
            <a:r>
              <a:rPr lang="en-US" sz="2000" dirty="0">
                <a:latin typeface="Bahnschrift SemiLight" panose="020B0502040204020203" pitchFamily="34" charset="0"/>
                <a:ea typeface="Tahoma" panose="020B0604030504040204" pitchFamily="34" charset="0"/>
                <a:cs typeface="Tahoma" panose="020B0604030504040204" pitchFamily="34" charset="0"/>
              </a:rPr>
              <a:t>T</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reatment, Outlier </a:t>
            </a:r>
            <a:r>
              <a:rPr lang="en-US" sz="2000" dirty="0">
                <a:latin typeface="Bahnschrift SemiLight" panose="020B0502040204020203" pitchFamily="34" charset="0"/>
                <a:ea typeface="Tahoma" panose="020B0604030504040204" pitchFamily="34" charset="0"/>
                <a:cs typeface="Tahoma" panose="020B0604030504040204" pitchFamily="34" charset="0"/>
              </a:rPr>
              <a:t>T</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reatment</a:t>
            </a:r>
            <a:r>
              <a:rPr lang="en-US" sz="2000" dirty="0">
                <a:latin typeface="Bahnschrift SemiLight" panose="020B0502040204020203" pitchFamily="34" charset="0"/>
                <a:ea typeface="Tahoma" panose="020B0604030504040204" pitchFamily="34" charset="0"/>
                <a:cs typeface="Tahoma" panose="020B0604030504040204" pitchFamily="34" charset="0"/>
              </a:rPr>
              <a:t>, </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Encoding Categorical Data</a:t>
            </a:r>
            <a:r>
              <a:rPr lang="en-US" sz="2000" dirty="0">
                <a:latin typeface="Bahnschrift SemiLight" panose="020B0502040204020203" pitchFamily="34" charset="0"/>
                <a:ea typeface="Tahoma" panose="020B0604030504040204" pitchFamily="34" charset="0"/>
                <a:cs typeface="Tahoma" panose="020B0604030504040204" pitchFamily="34" charset="0"/>
              </a:rPr>
              <a:t>, </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Splitting Dataset into Training and Testing </a:t>
            </a:r>
            <a:r>
              <a:rPr lang="en-US" sz="2000" dirty="0">
                <a:latin typeface="Bahnschrift SemiLight" panose="020B0502040204020203" pitchFamily="34" charset="0"/>
                <a:ea typeface="Tahoma" panose="020B0604030504040204" pitchFamily="34" charset="0"/>
                <a:cs typeface="Tahoma" panose="020B0604030504040204" pitchFamily="34" charset="0"/>
              </a:rPr>
              <a:t>S</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et</a:t>
            </a:r>
            <a:r>
              <a:rPr lang="en-US" sz="2000" dirty="0">
                <a:latin typeface="Bahnschrift SemiLight" panose="020B0502040204020203" pitchFamily="34" charset="0"/>
                <a:ea typeface="Tahoma" panose="020B0604030504040204" pitchFamily="34" charset="0"/>
                <a:cs typeface="Tahoma" panose="020B0604030504040204" pitchFamily="34" charset="0"/>
              </a:rPr>
              <a:t>, </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Feature </a:t>
            </a:r>
            <a:r>
              <a:rPr lang="en-US" sz="2000" dirty="0">
                <a:latin typeface="Bahnschrift SemiLight" panose="020B0502040204020203" pitchFamily="34" charset="0"/>
                <a:ea typeface="Tahoma" panose="020B0604030504040204" pitchFamily="34" charset="0"/>
                <a:cs typeface="Tahoma" panose="020B0604030504040204" pitchFamily="34" charset="0"/>
              </a:rPr>
              <a:t>S</a:t>
            </a:r>
            <a:r>
              <a:rPr lang="en-US" sz="2000" i="0" dirty="0">
                <a:solidFill>
                  <a:srgbClr val="000000"/>
                </a:solidFill>
                <a:latin typeface="Bahnschrift SemiLight" panose="020B0502040204020203" pitchFamily="34" charset="0"/>
                <a:ea typeface="Tahoma" panose="020B0604030504040204" pitchFamily="34" charset="0"/>
                <a:cs typeface="Tahoma" panose="020B0604030504040204" pitchFamily="34" charset="0"/>
              </a:rPr>
              <a:t>caling,</a:t>
            </a:r>
            <a:r>
              <a:rPr lang="en-US" sz="2000" dirty="0">
                <a:latin typeface="Bahnschrift SemiLight" panose="020B0502040204020203" pitchFamily="34" charset="0"/>
                <a:ea typeface="Tahoma" panose="020B0604030504040204" pitchFamily="34" charset="0"/>
                <a:cs typeface="Tahoma" panose="020B0604030504040204" pitchFamily="34" charset="0"/>
              </a:rPr>
              <a:t> and all the required steps, after that</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we have trained our model.</a:t>
            </a:r>
            <a:endParaRPr lang="en-US" sz="2000" dirty="0">
              <a:latin typeface="Bahnschrift SemiLight" panose="020B0502040204020203" pitchFamily="34" charset="0"/>
              <a:ea typeface="Tahoma" panose="020B0604030504040204" pitchFamily="34" charset="0"/>
              <a:cs typeface="Tahoma" panose="020B0604030504040204" pitchFamily="34" charset="0"/>
            </a:endParaRPr>
          </a:p>
          <a:p>
            <a:pPr algn="just"/>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Here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ML Models </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are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used</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rPr>
              <a:t> such as </a:t>
            </a:r>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sym typeface="Roboto"/>
              </a:rPr>
              <a:t>Logistic Regression, K- Nearest Neighbors Classifier, Decision Tree and Random Forest.</a:t>
            </a:r>
            <a:r>
              <a:rPr lang="en-US" sz="2000" dirty="0">
                <a:solidFill>
                  <a:schemeClr val="tx1"/>
                </a:solidFill>
                <a:latin typeface="Bahnschrift SemiLight" panose="020B0502040204020203" pitchFamily="34" charset="0"/>
                <a:ea typeface="Tahoma" panose="020B0604030504040204" pitchFamily="34" charset="0"/>
                <a:cs typeface="Tahoma" panose="020B0604030504040204" pitchFamily="34" charset="0"/>
                <a:sym typeface="Roboto"/>
              </a:rPr>
              <a:t> </a:t>
            </a:r>
          </a:p>
          <a:p>
            <a:pPr algn="just"/>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sym typeface="Roboto"/>
              </a:rPr>
              <a:t>To get max accuracy score </a:t>
            </a:r>
            <a:r>
              <a:rPr lang="en-IN" sz="2000" b="1" dirty="0">
                <a:latin typeface="Bahnschrift SemiLight" panose="020B0502040204020203" pitchFamily="34" charset="0"/>
                <a:ea typeface="Tahoma" panose="020B0604030504040204" pitchFamily="34" charset="0"/>
                <a:cs typeface="Tahoma" panose="020B0604030504040204" pitchFamily="34" charset="0"/>
              </a:rPr>
              <a:t>we have trained and tested our prediction model.</a:t>
            </a:r>
            <a:r>
              <a:rPr lang="en-IN" sz="2000" dirty="0">
                <a:latin typeface="Bahnschrift SemiLight" panose="020B0502040204020203" pitchFamily="34" charset="0"/>
                <a:ea typeface="Tahoma" panose="020B0604030504040204" pitchFamily="34" charset="0"/>
                <a:cs typeface="Tahoma" panose="020B0604030504040204" pitchFamily="34" charset="0"/>
              </a:rPr>
              <a:t> The accuracy of the model is determined using </a:t>
            </a:r>
            <a:r>
              <a:rPr lang="en-IN" sz="2000" b="1" dirty="0">
                <a:latin typeface="Bahnschrift SemiLight" panose="020B0502040204020203" pitchFamily="34" charset="0"/>
                <a:ea typeface="Tahoma" panose="020B0604030504040204" pitchFamily="34" charset="0"/>
                <a:cs typeface="Tahoma" panose="020B0604030504040204" pitchFamily="34" charset="0"/>
              </a:rPr>
              <a:t>Accuracy score which gave the output of over 95%.</a:t>
            </a:r>
          </a:p>
          <a:p>
            <a:pPr algn="just"/>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sym typeface="Roboto"/>
              </a:rPr>
              <a:t>Logistic Regression  -	0.95	K- Nearest Neighbors Classifier	 - 	0.98</a:t>
            </a:r>
          </a:p>
          <a:p>
            <a:pPr algn="just"/>
            <a:r>
              <a:rPr lang="en-US" sz="2000" b="1" dirty="0">
                <a:solidFill>
                  <a:schemeClr val="tx1"/>
                </a:solidFill>
                <a:latin typeface="Bahnschrift SemiLight" panose="020B0502040204020203" pitchFamily="34" charset="0"/>
                <a:ea typeface="Tahoma" panose="020B0604030504040204" pitchFamily="34" charset="0"/>
                <a:cs typeface="Tahoma" panose="020B0604030504040204" pitchFamily="34" charset="0"/>
                <a:sym typeface="Roboto"/>
              </a:rPr>
              <a:t>Decision Tree	        -	0.97	Random Forest	 		 -	0.99 </a:t>
            </a:r>
            <a:endParaRPr lang="en-IN" sz="2000" b="1" dirty="0">
              <a:latin typeface="Bahnschrift SemiLight" panose="020B0502040204020203"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50392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1" name="Google Shape;391;p19"/>
          <p:cNvSpPr txBox="1">
            <a:spLocks noGrp="1"/>
          </p:cNvSpPr>
          <p:nvPr>
            <p:ph type="ctrTitle"/>
          </p:nvPr>
        </p:nvSpPr>
        <p:spPr>
          <a:xfrm>
            <a:off x="0" y="-4252"/>
            <a:ext cx="9144000" cy="742658"/>
          </a:xfrm>
          <a:prstGeom prst="rect">
            <a:avLst/>
          </a:prstGeom>
          <a:solidFill>
            <a:srgbClr val="FF6A0E"/>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450000" lvl="0" indent="0" algn="l" rtl="0">
              <a:lnSpc>
                <a:spcPct val="150000"/>
              </a:lnSpc>
              <a:spcBef>
                <a:spcPts val="0"/>
              </a:spcBef>
              <a:spcAft>
                <a:spcPts val="1600"/>
              </a:spcAft>
              <a:buNone/>
            </a:pPr>
            <a:r>
              <a:rPr lang="en-GB" sz="3000" b="1" dirty="0">
                <a:solidFill>
                  <a:srgbClr val="FFFFFF"/>
                </a:solidFill>
                <a:latin typeface="Roboto"/>
                <a:ea typeface="Roboto"/>
                <a:cs typeface="Roboto"/>
                <a:sym typeface="Roboto"/>
              </a:rPr>
              <a:t>Future Scope</a:t>
            </a:r>
            <a:endParaRPr sz="3000" b="1" dirty="0">
              <a:solidFill>
                <a:srgbClr val="FFFFFF"/>
              </a:solidFill>
              <a:latin typeface="Roboto"/>
              <a:ea typeface="Roboto"/>
              <a:cs typeface="Roboto"/>
              <a:sym typeface="Roboto"/>
            </a:endParaRPr>
          </a:p>
        </p:txBody>
      </p:sp>
      <p:sp>
        <p:nvSpPr>
          <p:cNvPr id="392" name="Google Shape;392;p19"/>
          <p:cNvSpPr txBox="1"/>
          <p:nvPr/>
        </p:nvSpPr>
        <p:spPr>
          <a:xfrm>
            <a:off x="22407" y="5901225"/>
            <a:ext cx="9144000" cy="4034449"/>
          </a:xfrm>
          <a:prstGeom prst="rect">
            <a:avLst/>
          </a:prstGeom>
          <a:noFill/>
          <a:ln>
            <a:noFill/>
          </a:ln>
        </p:spPr>
        <p:txBody>
          <a:bodyPr spcFirstLastPara="1" wrap="square" lIns="274300" tIns="274300" rIns="274300" bIns="274300" anchor="t" anchorCtr="0">
            <a:noAutofit/>
          </a:bodyPr>
          <a:lstStyle/>
          <a:p>
            <a:pPr marL="457200" algn="just">
              <a:spcBef>
                <a:spcPts val="1600"/>
              </a:spcBef>
              <a:spcAft>
                <a:spcPts val="1600"/>
              </a:spcAft>
            </a:pPr>
            <a:endParaRPr lang="en-IN" sz="1800" dirty="0">
              <a:solidFill>
                <a:schemeClr val="dk1"/>
              </a:solidFill>
              <a:latin typeface="Bahnschrift SemiLight" panose="020B0502040204020203" pitchFamily="34" charset="0"/>
              <a:ea typeface="Roboto"/>
              <a:cs typeface="Roboto"/>
              <a:sym typeface="Roboto"/>
            </a:endParaRPr>
          </a:p>
        </p:txBody>
      </p:sp>
      <p:sp>
        <p:nvSpPr>
          <p:cNvPr id="393" name="Google Shape;393;p19"/>
          <p:cNvSpPr txBox="1"/>
          <p:nvPr/>
        </p:nvSpPr>
        <p:spPr>
          <a:xfrm>
            <a:off x="-10050" y="4800600"/>
            <a:ext cx="9164100" cy="270600"/>
          </a:xfrm>
          <a:prstGeom prst="rect">
            <a:avLst/>
          </a:prstGeom>
          <a:solidFill>
            <a:srgbClr val="FF6A0E"/>
          </a:solidFill>
          <a:ln>
            <a:noFill/>
          </a:ln>
        </p:spPr>
        <p:txBody>
          <a:bodyPr spcFirstLastPara="1" wrap="square" lIns="91425" tIns="91425" rIns="91425" bIns="91425" anchor="ctr" anchorCtr="0">
            <a:noAutofit/>
          </a:bodyPr>
          <a:lstStyle/>
          <a:p>
            <a:pPr marL="0" marR="182880" lvl="0" indent="0" algn="r" rtl="0">
              <a:spcBef>
                <a:spcPts val="0"/>
              </a:spcBef>
              <a:spcAft>
                <a:spcPts val="0"/>
              </a:spcAft>
              <a:buNone/>
            </a:pPr>
            <a:r>
              <a:rPr lang="en-GB" sz="1200">
                <a:solidFill>
                  <a:srgbClr val="FFFFFF"/>
                </a:solidFill>
                <a:latin typeface="Roboto"/>
                <a:ea typeface="Roboto"/>
                <a:cs typeface="Roboto"/>
                <a:sym typeface="Roboto"/>
              </a:rPr>
              <a:t>© All rights reserved by Fireblaze Technologies Pvt. Ltd.</a:t>
            </a:r>
            <a:endParaRPr sz="1200">
              <a:solidFill>
                <a:srgbClr val="FFFFFF"/>
              </a:solidFill>
              <a:latin typeface="Roboto"/>
              <a:ea typeface="Roboto"/>
              <a:cs typeface="Roboto"/>
              <a:sym typeface="Roboto"/>
            </a:endParaRPr>
          </a:p>
        </p:txBody>
      </p:sp>
      <p:sp>
        <p:nvSpPr>
          <p:cNvPr id="394" name="Google Shape;394;p19"/>
          <p:cNvSpPr/>
          <p:nvPr/>
        </p:nvSpPr>
        <p:spPr>
          <a:xfrm rot="10800000">
            <a:off x="8637600" y="97750"/>
            <a:ext cx="506400" cy="5664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0" y="4800600"/>
            <a:ext cx="326400" cy="270600"/>
          </a:xfrm>
          <a:prstGeom prst="rtTriangle">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E77B06D1-994C-08A4-B647-A344DB92326B}"/>
              </a:ext>
            </a:extLst>
          </p:cNvPr>
          <p:cNvSpPr txBox="1"/>
          <p:nvPr/>
        </p:nvSpPr>
        <p:spPr>
          <a:xfrm>
            <a:off x="-10050" y="736600"/>
            <a:ext cx="9164100" cy="3477875"/>
          </a:xfrm>
          <a:prstGeom prst="rect">
            <a:avLst/>
          </a:prstGeom>
          <a:noFill/>
        </p:spPr>
        <p:txBody>
          <a:bodyPr wrap="square" rtlCol="0">
            <a:spAutoFit/>
          </a:bodyPr>
          <a:lstStyle/>
          <a:p>
            <a:pPr algn="just"/>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DIABETES</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 is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dependent</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 on the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lifestyle attributes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as well as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past medical condition</a:t>
            </a:r>
            <a:r>
              <a:rPr lang="en-US" sz="2000" dirty="0">
                <a:latin typeface="Bahnschrift SemiLight" panose="020B0502040204020203" pitchFamily="34" charset="0"/>
              </a:rPr>
              <a:t> which we have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considered</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 in this ML Model.</a:t>
            </a:r>
          </a:p>
          <a:p>
            <a:pPr algn="just"/>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In the future,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for better performance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of the model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more medical attributes can be considered </a:t>
            </a:r>
            <a:r>
              <a:rPr kumimoji="0" lang="en-US" sz="200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such as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The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min, max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and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mean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value of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obesity</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endParaRPr>
          </a:p>
          <a:p>
            <a:pPr algn="just">
              <a:defRPr/>
            </a:pP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The IDRS score can be added to get a more accurate and precise output.</a:t>
            </a: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The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Indian Diabetes Risk Score (IDRS)</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 predicts the probability of diabetes based on four simple parameters—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age, abdominal obesity, family history </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of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diabetes</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 and </a:t>
            </a:r>
            <a:r>
              <a:rPr kumimoji="0" lang="en-US" sz="2000" b="1"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physical activity</a:t>
            </a:r>
            <a:r>
              <a:rPr kumimoji="0" lang="en-US" sz="2000" b="0" i="0" u="none" strike="noStrike" kern="0" cap="none" spc="0" normalizeH="0" baseline="0" noProof="0" dirty="0">
                <a:ln>
                  <a:noFill/>
                </a:ln>
                <a:solidFill>
                  <a:srgbClr val="000000"/>
                </a:solidFill>
                <a:effectLst/>
                <a:uLnTx/>
                <a:uFillTx/>
                <a:latin typeface="Bahnschrift SemiLight" panose="020B0502040204020203" pitchFamily="34" charset="0"/>
                <a:cs typeface="Arial"/>
                <a:sym typeface="Arial"/>
              </a:rPr>
              <a:t>. A maximum score of 100 is given for these categories combined.</a:t>
            </a:r>
          </a:p>
        </p:txBody>
      </p:sp>
    </p:spTree>
    <p:extLst>
      <p:ext uri="{BB962C8B-B14F-4D97-AF65-F5344CB8AC3E}">
        <p14:creationId xmlns:p14="http://schemas.microsoft.com/office/powerpoint/2010/main" val="96655734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2265</TotalTime>
  <Words>796</Words>
  <Application>Microsoft Office PowerPoint</Application>
  <PresentationFormat>On-screen Show (16:9)</PresentationFormat>
  <Paragraphs>60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Tahoma</vt:lpstr>
      <vt:lpstr>Roboto</vt:lpstr>
      <vt:lpstr>Bahnschrift SemiLight</vt:lpstr>
      <vt:lpstr>Simple Light</vt:lpstr>
      <vt:lpstr>PowerPoint Presentation</vt:lpstr>
      <vt:lpstr>Problem Statement</vt:lpstr>
      <vt:lpstr>Proposed Solution</vt:lpstr>
      <vt:lpstr>Descriptive Analysis</vt:lpstr>
      <vt:lpstr>Descriptive Analysis</vt:lpstr>
      <vt:lpstr>Descriptive Analysis</vt:lpstr>
      <vt:lpstr>Descriptive Analysis</vt:lpstr>
      <vt:lpstr>Descriptive Analysis</vt:lpstr>
      <vt:lpstr>Descriptive Analysis</vt:lpstr>
      <vt:lpstr>Descriptive Analysis</vt:lpstr>
      <vt:lpstr>Descriptive Analysis</vt:lpstr>
      <vt:lpstr>Descriptive Analysis</vt:lpstr>
      <vt:lpstr>Effect of Data Pre-processing</vt:lpstr>
      <vt:lpstr>Machine Learning Modelling</vt:lpstr>
      <vt:lpstr>PowerPoint Presentation</vt:lpstr>
      <vt:lpstr>PowerPoint Presentation</vt:lpstr>
      <vt:lpstr>PowerPoint Presentation</vt:lpstr>
      <vt:lpstr>Conclusion</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fireb</dc:creator>
  <cp:lastModifiedBy>Pablo Escobar</cp:lastModifiedBy>
  <cp:revision>16</cp:revision>
  <dcterms:modified xsi:type="dcterms:W3CDTF">2026-01-05T07:05:57Z</dcterms:modified>
</cp:coreProperties>
</file>